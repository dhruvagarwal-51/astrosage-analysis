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2" r:id="rId18"/>
    <p:sldId id="274" r:id="rId19"/>
  </p:sldIdLst>
  <p:sldSz cx="18288000" cy="10287000"/>
  <p:notesSz cx="6858000" cy="9144000"/>
  <p:embeddedFontLst>
    <p:embeddedFont>
      <p:font typeface="Canva Sans" panose="020B0604020202020204" charset="0"/>
      <p:regular r:id="rId21"/>
    </p:embeddedFont>
    <p:embeddedFont>
      <p:font typeface="Telegraf" panose="020B0604020202020204" charset="0"/>
      <p:regular r:id="rId22"/>
    </p:embeddedFont>
    <p:embeddedFont>
      <p:font typeface="Telegraf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2BC977-04C9-4E12-8DAD-CDC45EE9F5F5}" v="70" dt="2026-04-19T07:08:04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>
        <p:scale>
          <a:sx n="50" d="100"/>
          <a:sy n="50" d="100"/>
        </p:scale>
        <p:origin x="9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AstroSage%20analysis\AstroSage%20Questions%20And%20Dashboar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Dashboard.xlsx]Pivot!PivotTable2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Hourwise Call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Pivot!$F$3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Pivot!$E$4:$E$28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Pivot!$F$4:$F$28</c:f>
              <c:numCache>
                <c:formatCode>General</c:formatCode>
                <c:ptCount val="24"/>
                <c:pt idx="0">
                  <c:v>68</c:v>
                </c:pt>
                <c:pt idx="1">
                  <c:v>52</c:v>
                </c:pt>
                <c:pt idx="2">
                  <c:v>129</c:v>
                </c:pt>
                <c:pt idx="3">
                  <c:v>264</c:v>
                </c:pt>
                <c:pt idx="4">
                  <c:v>348</c:v>
                </c:pt>
                <c:pt idx="5">
                  <c:v>449</c:v>
                </c:pt>
                <c:pt idx="6">
                  <c:v>541</c:v>
                </c:pt>
                <c:pt idx="7">
                  <c:v>551</c:v>
                </c:pt>
                <c:pt idx="8">
                  <c:v>660</c:v>
                </c:pt>
                <c:pt idx="9">
                  <c:v>498</c:v>
                </c:pt>
                <c:pt idx="10">
                  <c:v>605</c:v>
                </c:pt>
                <c:pt idx="11">
                  <c:v>515</c:v>
                </c:pt>
                <c:pt idx="12">
                  <c:v>483</c:v>
                </c:pt>
                <c:pt idx="13">
                  <c:v>437</c:v>
                </c:pt>
                <c:pt idx="14">
                  <c:v>513</c:v>
                </c:pt>
                <c:pt idx="15">
                  <c:v>497</c:v>
                </c:pt>
                <c:pt idx="16">
                  <c:v>479</c:v>
                </c:pt>
                <c:pt idx="17">
                  <c:v>374</c:v>
                </c:pt>
                <c:pt idx="18">
                  <c:v>265</c:v>
                </c:pt>
                <c:pt idx="19">
                  <c:v>223</c:v>
                </c:pt>
                <c:pt idx="20">
                  <c:v>172</c:v>
                </c:pt>
                <c:pt idx="21">
                  <c:v>99</c:v>
                </c:pt>
                <c:pt idx="22">
                  <c:v>73</c:v>
                </c:pt>
                <c:pt idx="2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1C-4DBB-A582-F8DB81093F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030897696"/>
        <c:axId val="1030907776"/>
      </c:barChart>
      <c:catAx>
        <c:axId val="103089769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HOUR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5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907776"/>
        <c:crosses val="autoZero"/>
        <c:auto val="1"/>
        <c:lblAlgn val="ctr"/>
        <c:lblOffset val="100"/>
        <c:noMultiLvlLbl val="0"/>
      </c:catAx>
      <c:valAx>
        <c:axId val="1030907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 OF CALLSID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5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89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[AstroSage Questions And Dashboard.xlsx]Pivot!PivotTable11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Day wise</a:t>
            </a:r>
            <a:r>
              <a:rPr lang="en-US" baseline="0" dirty="0"/>
              <a:t> Call Distribution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Pivot!$A$4:$A$38</c:f>
              <c:strCache>
                <c:ptCount val="34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01-Dec</c:v>
                </c:pt>
                <c:pt idx="4">
                  <c:v>02-Dec</c:v>
                </c:pt>
                <c:pt idx="5">
                  <c:v>03-Dec</c:v>
                </c:pt>
                <c:pt idx="6">
                  <c:v>04-Dec</c:v>
                </c:pt>
                <c:pt idx="7">
                  <c:v>05-Dec</c:v>
                </c:pt>
                <c:pt idx="8">
                  <c:v>06-Dec</c:v>
                </c:pt>
                <c:pt idx="9">
                  <c:v>07-Dec</c:v>
                </c:pt>
                <c:pt idx="10">
                  <c:v>08-Dec</c:v>
                </c:pt>
                <c:pt idx="11">
                  <c:v>09-Dec</c:v>
                </c:pt>
                <c:pt idx="12">
                  <c:v>10-Dec</c:v>
                </c:pt>
                <c:pt idx="13">
                  <c:v>11-Dec</c:v>
                </c:pt>
                <c:pt idx="14">
                  <c:v>12-Dec</c:v>
                </c:pt>
                <c:pt idx="15">
                  <c:v>13-Dec</c:v>
                </c:pt>
                <c:pt idx="16">
                  <c:v>14-Dec</c:v>
                </c:pt>
                <c:pt idx="17">
                  <c:v>15-Dec</c:v>
                </c:pt>
                <c:pt idx="18">
                  <c:v>16-Dec</c:v>
                </c:pt>
                <c:pt idx="19">
                  <c:v>17-Dec</c:v>
                </c:pt>
                <c:pt idx="20">
                  <c:v>18-Dec</c:v>
                </c:pt>
                <c:pt idx="21">
                  <c:v>19-Dec</c:v>
                </c:pt>
                <c:pt idx="22">
                  <c:v>20-Dec</c:v>
                </c:pt>
                <c:pt idx="23">
                  <c:v>21-Dec</c:v>
                </c:pt>
                <c:pt idx="24">
                  <c:v>22-Dec</c:v>
                </c:pt>
                <c:pt idx="25">
                  <c:v>23-Dec</c:v>
                </c:pt>
                <c:pt idx="26">
                  <c:v>24-Dec</c:v>
                </c:pt>
                <c:pt idx="27">
                  <c:v>25-Dec</c:v>
                </c:pt>
                <c:pt idx="28">
                  <c:v>26-Dec</c:v>
                </c:pt>
                <c:pt idx="29">
                  <c:v>27-Dec</c:v>
                </c:pt>
                <c:pt idx="30">
                  <c:v>28-Dec</c:v>
                </c:pt>
                <c:pt idx="31">
                  <c:v>29-Dec</c:v>
                </c:pt>
                <c:pt idx="32">
                  <c:v>30-Dec</c:v>
                </c:pt>
                <c:pt idx="33">
                  <c:v>31-Dec</c:v>
                </c:pt>
              </c:strCache>
            </c:strRef>
          </c:cat>
          <c:val>
            <c:numRef>
              <c:f>Pivot!$B$4:$B$38</c:f>
              <c:numCache>
                <c:formatCode>General</c:formatCode>
                <c:ptCount val="34"/>
                <c:pt idx="0">
                  <c:v>115</c:v>
                </c:pt>
                <c:pt idx="1">
                  <c:v>196</c:v>
                </c:pt>
                <c:pt idx="2">
                  <c:v>107</c:v>
                </c:pt>
                <c:pt idx="3">
                  <c:v>228</c:v>
                </c:pt>
                <c:pt idx="4">
                  <c:v>332</c:v>
                </c:pt>
                <c:pt idx="5">
                  <c:v>383</c:v>
                </c:pt>
                <c:pt idx="6">
                  <c:v>364</c:v>
                </c:pt>
                <c:pt idx="7">
                  <c:v>253</c:v>
                </c:pt>
                <c:pt idx="8">
                  <c:v>254</c:v>
                </c:pt>
                <c:pt idx="9">
                  <c:v>254</c:v>
                </c:pt>
                <c:pt idx="10">
                  <c:v>138</c:v>
                </c:pt>
                <c:pt idx="11">
                  <c:v>288</c:v>
                </c:pt>
                <c:pt idx="12">
                  <c:v>430</c:v>
                </c:pt>
                <c:pt idx="13">
                  <c:v>424</c:v>
                </c:pt>
                <c:pt idx="14">
                  <c:v>358</c:v>
                </c:pt>
                <c:pt idx="15">
                  <c:v>348</c:v>
                </c:pt>
                <c:pt idx="16">
                  <c:v>226</c:v>
                </c:pt>
                <c:pt idx="17">
                  <c:v>276</c:v>
                </c:pt>
                <c:pt idx="18">
                  <c:v>258</c:v>
                </c:pt>
                <c:pt idx="19">
                  <c:v>185</c:v>
                </c:pt>
                <c:pt idx="20">
                  <c:v>233</c:v>
                </c:pt>
                <c:pt idx="21">
                  <c:v>209</c:v>
                </c:pt>
                <c:pt idx="22">
                  <c:v>178</c:v>
                </c:pt>
                <c:pt idx="23">
                  <c:v>159</c:v>
                </c:pt>
                <c:pt idx="24">
                  <c:v>163</c:v>
                </c:pt>
                <c:pt idx="25">
                  <c:v>241</c:v>
                </c:pt>
                <c:pt idx="26">
                  <c:v>232</c:v>
                </c:pt>
                <c:pt idx="27">
                  <c:v>258</c:v>
                </c:pt>
                <c:pt idx="28">
                  <c:v>255</c:v>
                </c:pt>
                <c:pt idx="29">
                  <c:v>242</c:v>
                </c:pt>
                <c:pt idx="30">
                  <c:v>181</c:v>
                </c:pt>
                <c:pt idx="31">
                  <c:v>260</c:v>
                </c:pt>
                <c:pt idx="32">
                  <c:v>179</c:v>
                </c:pt>
                <c:pt idx="33">
                  <c:v>158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3-47BC-8A17-3752A1163B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34132815"/>
        <c:axId val="234138575"/>
      </c:barChart>
      <c:catAx>
        <c:axId val="234132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138575"/>
        <c:crosses val="autoZero"/>
        <c:auto val="1"/>
        <c:lblAlgn val="ctr"/>
        <c:lblOffset val="100"/>
        <c:noMultiLvlLbl val="0"/>
      </c:catAx>
      <c:valAx>
        <c:axId val="2341385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132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 sz="1500"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Dashboard.xlsx]Pivot!PivotTable5</c:name>
    <c:fmtId val="4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Product Wise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Pivot!$M$11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shade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4F06-440F-8A3F-03658EA93B08}"/>
              </c:ext>
            </c:extLst>
          </c:dPt>
          <c:dPt>
            <c:idx val="1"/>
            <c:bubble3D val="0"/>
            <c:spPr>
              <a:solidFill>
                <a:schemeClr val="accent6">
                  <a:shade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4F06-440F-8A3F-03658EA93B08}"/>
              </c:ext>
            </c:extLst>
          </c:dPt>
          <c:dPt>
            <c:idx val="2"/>
            <c:bubble3D val="0"/>
            <c:spPr>
              <a:solidFill>
                <a:schemeClr val="accent6">
                  <a:tint val="8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4F06-440F-8A3F-03658EA93B08}"/>
              </c:ext>
            </c:extLst>
          </c:dPt>
          <c:dPt>
            <c:idx val="3"/>
            <c:bubble3D val="0"/>
            <c:spPr>
              <a:solidFill>
                <a:schemeClr val="accent6">
                  <a:tint val="5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4F06-440F-8A3F-03658EA93B08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Pivot!$L$12:$L$16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Pivot!$M$12:$M$16</c:f>
              <c:numCache>
                <c:formatCode>0.0</c:formatCode>
                <c:ptCount val="4"/>
                <c:pt idx="0">
                  <c:v>168442.03500000015</c:v>
                </c:pt>
                <c:pt idx="1">
                  <c:v>45494.683333333342</c:v>
                </c:pt>
                <c:pt idx="2">
                  <c:v>0</c:v>
                </c:pt>
                <c:pt idx="3">
                  <c:v>50.596999999999902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06-440F-8A3F-03658EA93B0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Dashboard.xlsx]Pivot!PivotTable1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Website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Pivot!$M$3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026-4D09-B5C0-D2B3DA71A613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026-4D09-B5C0-D2B3DA71A613}"/>
              </c:ext>
            </c:extLst>
          </c:dPt>
          <c:dPt>
            <c:idx val="2"/>
            <c:bubble3D val="0"/>
            <c:spPr>
              <a:solidFill>
                <a:schemeClr val="accent6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026-4D09-B5C0-D2B3DA71A613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Pivot!$L$4:$L$7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Pivot!$M$4:$M$7</c:f>
              <c:numCache>
                <c:formatCode>General</c:formatCode>
                <c:ptCount val="3"/>
                <c:pt idx="0">
                  <c:v>7800</c:v>
                </c:pt>
                <c:pt idx="1">
                  <c:v>2</c:v>
                </c:pt>
                <c:pt idx="2">
                  <c:v>20225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26-4D09-B5C0-D2B3DA71A61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Dashboard.xlsx]Pivot!PivotTable8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 Status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Pivot!$I$3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shade val="4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FEB-41F6-8EBC-1FF17BF86E9D}"/>
              </c:ext>
            </c:extLst>
          </c:dPt>
          <c:dPt>
            <c:idx val="1"/>
            <c:bubble3D val="0"/>
            <c:spPr>
              <a:solidFill>
                <a:schemeClr val="accent6">
                  <a:shade val="61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FEB-41F6-8EBC-1FF17BF86E9D}"/>
              </c:ext>
            </c:extLst>
          </c:dPt>
          <c:dPt>
            <c:idx val="2"/>
            <c:bubble3D val="0"/>
            <c:spPr>
              <a:solidFill>
                <a:schemeClr val="accent6">
                  <a:shade val="7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FEB-41F6-8EBC-1FF17BF86E9D}"/>
              </c:ext>
            </c:extLst>
          </c:dPt>
          <c:dPt>
            <c:idx val="3"/>
            <c:bubble3D val="0"/>
            <c:spPr>
              <a:solidFill>
                <a:schemeClr val="accent6">
                  <a:shade val="9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FEB-41F6-8EBC-1FF17BF86E9D}"/>
              </c:ext>
            </c:extLst>
          </c:dPt>
          <c:dPt>
            <c:idx val="4"/>
            <c:bubble3D val="0"/>
            <c:spPr>
              <a:solidFill>
                <a:schemeClr val="accent6">
                  <a:tint val="9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FEB-41F6-8EBC-1FF17BF86E9D}"/>
              </c:ext>
            </c:extLst>
          </c:dPt>
          <c:dPt>
            <c:idx val="5"/>
            <c:bubble3D val="0"/>
            <c:spPr>
              <a:solidFill>
                <a:schemeClr val="accent6">
                  <a:tint val="7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4FEB-41F6-8EBC-1FF17BF86E9D}"/>
              </c:ext>
            </c:extLst>
          </c:dPt>
          <c:dPt>
            <c:idx val="6"/>
            <c:bubble3D val="0"/>
            <c:spPr>
              <a:solidFill>
                <a:schemeClr val="accent6">
                  <a:tint val="6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4FEB-41F6-8EBC-1FF17BF86E9D}"/>
              </c:ext>
            </c:extLst>
          </c:dPt>
          <c:dPt>
            <c:idx val="7"/>
            <c:bubble3D val="0"/>
            <c:spPr>
              <a:solidFill>
                <a:schemeClr val="accent6">
                  <a:tint val="4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4FEB-41F6-8EBC-1FF17BF86E9D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Pivot!$H$4:$H$12</c:f>
              <c:strCache>
                <c:ptCount val="8"/>
                <c:pt idx="0">
                  <c:v>busy</c:v>
                </c:pt>
                <c:pt idx="1">
                  <c:v>completed</c:v>
                </c:pt>
                <c:pt idx="2">
                  <c:v>failed</c:v>
                </c:pt>
                <c:pt idx="3">
                  <c:v>incomplete</c:v>
                </c:pt>
                <c:pt idx="4">
                  <c:v>NA</c:v>
                </c:pt>
                <c:pt idx="5">
                  <c:v>no-answer</c:v>
                </c:pt>
                <c:pt idx="6">
                  <c:v>pending</c:v>
                </c:pt>
                <c:pt idx="7">
                  <c:v>started</c:v>
                </c:pt>
              </c:strCache>
            </c:strRef>
          </c:cat>
          <c:val>
            <c:numRef>
              <c:f>Pivot!$I$4:$I$12</c:f>
              <c:numCache>
                <c:formatCode>General</c:formatCode>
                <c:ptCount val="8"/>
                <c:pt idx="0">
                  <c:v>240</c:v>
                </c:pt>
                <c:pt idx="1">
                  <c:v>6331</c:v>
                </c:pt>
                <c:pt idx="2">
                  <c:v>7615</c:v>
                </c:pt>
                <c:pt idx="3">
                  <c:v>6870</c:v>
                </c:pt>
                <c:pt idx="4">
                  <c:v>6525</c:v>
                </c:pt>
                <c:pt idx="5">
                  <c:v>363</c:v>
                </c:pt>
                <c:pt idx="6">
                  <c:v>48</c:v>
                </c:pt>
                <c:pt idx="7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FEB-41F6-8EBC-1FF17BF86E9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Dashboard.xlsx]Pivot!PivotTable3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Chat Status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3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4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5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7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8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9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0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1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2"/>
        <c:spPr>
          <a:solidFill>
            <a:schemeClr val="accent6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Pivot!$I$18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shade val="4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54F-4166-BFB3-E92C16AC8015}"/>
              </c:ext>
            </c:extLst>
          </c:dPt>
          <c:dPt>
            <c:idx val="1"/>
            <c:bubble3D val="0"/>
            <c:spPr>
              <a:solidFill>
                <a:schemeClr val="accent6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54F-4166-BFB3-E92C16AC8015}"/>
              </c:ext>
            </c:extLst>
          </c:dPt>
          <c:dPt>
            <c:idx val="2"/>
            <c:bubble3D val="0"/>
            <c:spPr>
              <a:solidFill>
                <a:schemeClr val="accent6">
                  <a:shade val="8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54F-4166-BFB3-E92C16AC8015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54F-4166-BFB3-E92C16AC8015}"/>
              </c:ext>
            </c:extLst>
          </c:dPt>
          <c:dPt>
            <c:idx val="4"/>
            <c:bubble3D val="0"/>
            <c:spPr>
              <a:solidFill>
                <a:schemeClr val="accent6">
                  <a:tint val="8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54F-4166-BFB3-E92C16AC8015}"/>
              </c:ext>
            </c:extLst>
          </c:dPt>
          <c:dPt>
            <c:idx val="5"/>
            <c:bubble3D val="0"/>
            <c:spPr>
              <a:solidFill>
                <a:schemeClr val="accent6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54F-4166-BFB3-E92C16AC8015}"/>
              </c:ext>
            </c:extLst>
          </c:dPt>
          <c:dPt>
            <c:idx val="6"/>
            <c:bubble3D val="0"/>
            <c:spPr>
              <a:solidFill>
                <a:schemeClr val="accent6">
                  <a:tint val="48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554F-4166-BFB3-E92C16AC8015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5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Pivot!$H$19:$H$26</c:f>
              <c:strCache>
                <c:ptCount val="7"/>
                <c:pt idx="0">
                  <c:v>completed</c:v>
                </c:pt>
                <c:pt idx="1">
                  <c:v>failed</c:v>
                </c:pt>
                <c:pt idx="2">
                  <c:v>incomplete</c:v>
                </c:pt>
                <c:pt idx="3">
                  <c:v>NA</c:v>
                </c:pt>
                <c:pt idx="4">
                  <c:v>On call</c:v>
                </c:pt>
                <c:pt idx="5">
                  <c:v>pending</c:v>
                </c:pt>
                <c:pt idx="6">
                  <c:v>started</c:v>
                </c:pt>
              </c:strCache>
            </c:strRef>
          </c:cat>
          <c:val>
            <c:numRef>
              <c:f>Pivot!$I$19:$I$26</c:f>
              <c:numCache>
                <c:formatCode>General</c:formatCode>
                <c:ptCount val="7"/>
                <c:pt idx="0">
                  <c:v>5535</c:v>
                </c:pt>
                <c:pt idx="1">
                  <c:v>7255</c:v>
                </c:pt>
                <c:pt idx="2">
                  <c:v>6641</c:v>
                </c:pt>
                <c:pt idx="3">
                  <c:v>5</c:v>
                </c:pt>
                <c:pt idx="4">
                  <c:v>8508</c:v>
                </c:pt>
                <c:pt idx="5">
                  <c:v>48</c:v>
                </c:pt>
                <c:pt idx="6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54F-4166-BFB3-E92C16AC801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Dashboard.xlsx]Pivot!PivotTable9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Rating Wise Guru 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Pivot!$P$3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Pivot!$O$4:$O$13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Pivot!$P$4:$P$13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2-42A0-9A32-34477FB42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34205295"/>
        <c:axId val="234205775"/>
      </c:barChart>
      <c:catAx>
        <c:axId val="23420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205775"/>
        <c:crosses val="autoZero"/>
        <c:auto val="1"/>
        <c:lblAlgn val="ctr"/>
        <c:lblOffset val="100"/>
        <c:noMultiLvlLbl val="0"/>
      </c:catAx>
      <c:valAx>
        <c:axId val="2342057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20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Dashboard.xlsx]Pivot!PivotTable10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User Wise 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Pivot!$M$20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Pivot!$L$21:$L$30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Pivot!$M$21:$M$30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AB-4948-BC92-150BDBD0D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34200495"/>
        <c:axId val="234184175"/>
      </c:barChart>
      <c:catAx>
        <c:axId val="23420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184175"/>
        <c:crosses val="autoZero"/>
        <c:auto val="1"/>
        <c:lblAlgn val="ctr"/>
        <c:lblOffset val="100"/>
        <c:noMultiLvlLbl val="0"/>
      </c:catAx>
      <c:valAx>
        <c:axId val="2341841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200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 Questions And Dashboard.xlsx]Pivot!PivotTable4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Guru 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Pivot!$S$3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hade val="51000"/>
                    <a:satMod val="130000"/>
                  </a:schemeClr>
                </a:gs>
                <a:gs pos="80000">
                  <a:schemeClr val="accent6">
                    <a:shade val="93000"/>
                    <a:satMod val="130000"/>
                  </a:schemeClr>
                </a:gs>
                <a:gs pos="100000">
                  <a:schemeClr val="accent6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Pivot!$R$4:$R$14</c:f>
              <c:strCache>
                <c:ptCount val="10"/>
                <c:pt idx="0">
                  <c:v>Tarot  Mystical</c:v>
                </c:pt>
                <c:pt idx="1">
                  <c:v>Astro  Pujaa Rai</c:v>
                </c:pt>
                <c:pt idx="2">
                  <c:v>Daljit Kaur</c:v>
                </c:pt>
                <c:pt idx="3">
                  <c:v>Astro Reema</c:v>
                </c:pt>
                <c:pt idx="4">
                  <c:v>Tarot  Ankita</c:v>
                </c:pt>
                <c:pt idx="5">
                  <c:v>Astro  Saraswat</c:v>
                </c:pt>
                <c:pt idx="6">
                  <c:v>Tarot  Diva Poonam</c:v>
                </c:pt>
                <c:pt idx="7">
                  <c:v>Astro  Trisha</c:v>
                </c:pt>
                <c:pt idx="8">
                  <c:v>Tarot  Oormika</c:v>
                </c:pt>
                <c:pt idx="9">
                  <c:v>Astro Manish S</c:v>
                </c:pt>
              </c:strCache>
            </c:strRef>
          </c:cat>
          <c:val>
            <c:numRef>
              <c:f>Pivot!$S$4:$S$14</c:f>
              <c:numCache>
                <c:formatCode>0.0</c:formatCode>
                <c:ptCount val="10"/>
                <c:pt idx="0">
                  <c:v>7.5</c:v>
                </c:pt>
                <c:pt idx="1">
                  <c:v>7.5</c:v>
                </c:pt>
                <c:pt idx="2">
                  <c:v>5.9459459459459456</c:v>
                </c:pt>
                <c:pt idx="3">
                  <c:v>5.9</c:v>
                </c:pt>
                <c:pt idx="4">
                  <c:v>5.75</c:v>
                </c:pt>
                <c:pt idx="5">
                  <c:v>5.6111111111111107</c:v>
                </c:pt>
                <c:pt idx="6">
                  <c:v>5.4626865671641793</c:v>
                </c:pt>
                <c:pt idx="7">
                  <c:v>5.4243243243243242</c:v>
                </c:pt>
                <c:pt idx="8">
                  <c:v>5.4</c:v>
                </c:pt>
                <c:pt idx="9">
                  <c:v>5.0487804878048781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D6-49D5-AC70-78CDEC5B27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34133775"/>
        <c:axId val="234131855"/>
      </c:barChart>
      <c:catAx>
        <c:axId val="234133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131855"/>
        <c:crosses val="autoZero"/>
        <c:auto val="1"/>
        <c:lblAlgn val="ctr"/>
        <c:lblOffset val="100"/>
        <c:noMultiLvlLbl val="0"/>
      </c:catAx>
      <c:valAx>
        <c:axId val="23413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133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>
      <a:noFill/>
    </a:ln>
    <a:effectLst/>
  </c:spPr>
  <c:txPr>
    <a:bodyPr/>
    <a:lstStyle/>
    <a:p>
      <a:pPr>
        <a:defRPr sz="15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7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8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CEAE7-C281-486A-8B0F-4665D1454685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66436-59BB-4F6E-AA34-C769D1946A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601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">
            <a:extLst>
              <a:ext uri="{FF2B5EF4-FFF2-40B4-BE49-F238E27FC236}">
                <a16:creationId xmlns:a16="http://schemas.microsoft.com/office/drawing/2014/main" id="{EDF07BCE-E7A9-3970-0830-F9756038DB15}"/>
              </a:ext>
            </a:extLst>
          </p:cNvPr>
          <p:cNvSpPr/>
          <p:nvPr/>
        </p:nvSpPr>
        <p:spPr>
          <a:xfrm>
            <a:off x="2286000" y="577310"/>
            <a:ext cx="13185934" cy="2866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50"/>
              </a:lnSpc>
              <a:buNone/>
            </a:pPr>
            <a:r>
              <a:rPr lang="en-US" sz="12000" dirty="0">
                <a:solidFill>
                  <a:srgbClr val="050505"/>
                </a:solidFill>
                <a:latin typeface="Arial" panose="020B0604020202020204" pitchFamily="34" charset="0"/>
                <a:ea typeface="Gilda Display" pitchFamily="34" charset="-122"/>
                <a:cs typeface="Arial" panose="020B0604020202020204" pitchFamily="34" charset="0"/>
              </a:rPr>
              <a:t>ASTROSAGE ANALYSIS</a:t>
            </a:r>
            <a:endParaRPr lang="en-US" sz="1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20149AA-1496-87CA-FB15-B52A9D9631F6}"/>
              </a:ext>
            </a:extLst>
          </p:cNvPr>
          <p:cNvSpPr/>
          <p:nvPr/>
        </p:nvSpPr>
        <p:spPr>
          <a:xfrm>
            <a:off x="2071529" y="3629400"/>
            <a:ext cx="13185934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Insights to Enhance Customer Experience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Google Shape;90;p13">
            <a:extLst>
              <a:ext uri="{FF2B5EF4-FFF2-40B4-BE49-F238E27FC236}">
                <a16:creationId xmlns:a16="http://schemas.microsoft.com/office/drawing/2014/main" id="{6A25227D-1DD0-CB62-E9A6-ECE557D6C72F}"/>
              </a:ext>
            </a:extLst>
          </p:cNvPr>
          <p:cNvSpPr/>
          <p:nvPr/>
        </p:nvSpPr>
        <p:spPr>
          <a:xfrm>
            <a:off x="5700869" y="3934200"/>
            <a:ext cx="6356196" cy="4246424"/>
          </a:xfrm>
          <a:custGeom>
            <a:avLst/>
            <a:gdLst/>
            <a:ahLst/>
            <a:cxnLst/>
            <a:rect l="l" t="t" r="r" b="b"/>
            <a:pathLst>
              <a:path w="5029317" h="4425739" extrusionOk="0">
                <a:moveTo>
                  <a:pt x="0" y="0"/>
                </a:moveTo>
                <a:lnTo>
                  <a:pt x="5029317" y="0"/>
                </a:lnTo>
                <a:lnTo>
                  <a:pt x="5029317" y="4425739"/>
                </a:lnTo>
                <a:lnTo>
                  <a:pt x="0" y="4425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t="-3887" b="-9749"/>
            </a:stretch>
          </a:blipFill>
          <a:ln>
            <a:noFill/>
          </a:ln>
        </p:spPr>
        <p:txBody>
          <a:bodyPr/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2D91D2-BBA7-86F4-FBD6-3F9B1BD0962C}"/>
              </a:ext>
            </a:extLst>
          </p:cNvPr>
          <p:cNvSpPr txBox="1"/>
          <p:nvPr/>
        </p:nvSpPr>
        <p:spPr>
          <a:xfrm>
            <a:off x="7256465" y="8931646"/>
            <a:ext cx="480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     Dhruv Agarwal</a:t>
            </a:r>
          </a:p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	29.03.2026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679970" y="2216038"/>
            <a:ext cx="3494859" cy="3699239"/>
            <a:chOff x="0" y="0"/>
            <a:chExt cx="4659812" cy="493231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659812" cy="4932318"/>
              <a:chOff x="0" y="0"/>
              <a:chExt cx="920457" cy="97428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20457" cy="974285"/>
              </a:xfrm>
              <a:custGeom>
                <a:avLst/>
                <a:gdLst/>
                <a:ahLst/>
                <a:cxnLst/>
                <a:rect l="l" t="t" r="r" b="b"/>
                <a:pathLst>
                  <a:path w="920457" h="974285">
                    <a:moveTo>
                      <a:pt x="112977" y="0"/>
                    </a:moveTo>
                    <a:lnTo>
                      <a:pt x="807480" y="0"/>
                    </a:lnTo>
                    <a:cubicBezTo>
                      <a:pt x="869875" y="0"/>
                      <a:pt x="920457" y="50581"/>
                      <a:pt x="920457" y="112977"/>
                    </a:cubicBezTo>
                    <a:lnTo>
                      <a:pt x="920457" y="861308"/>
                    </a:lnTo>
                    <a:cubicBezTo>
                      <a:pt x="920457" y="923704"/>
                      <a:pt x="869875" y="974285"/>
                      <a:pt x="807480" y="974285"/>
                    </a:cubicBezTo>
                    <a:lnTo>
                      <a:pt x="112977" y="974285"/>
                    </a:lnTo>
                    <a:cubicBezTo>
                      <a:pt x="50581" y="974285"/>
                      <a:pt x="0" y="923704"/>
                      <a:pt x="0" y="861308"/>
                    </a:cubicBezTo>
                    <a:lnTo>
                      <a:pt x="0" y="112977"/>
                    </a:lnTo>
                    <a:cubicBezTo>
                      <a:pt x="0" y="50581"/>
                      <a:pt x="50581" y="0"/>
                      <a:pt x="112977" y="0"/>
                    </a:cubicBezTo>
                    <a:close/>
                  </a:path>
                </a:pathLst>
              </a:custGeom>
              <a:solidFill>
                <a:srgbClr val="DE570E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920457" cy="1021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11852" y="353819"/>
              <a:ext cx="3436108" cy="4224681"/>
              <a:chOff x="0" y="0"/>
              <a:chExt cx="510944" cy="62820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10944" cy="628203"/>
              </a:xfrm>
              <a:custGeom>
                <a:avLst/>
                <a:gdLst/>
                <a:ahLst/>
                <a:cxnLst/>
                <a:rect l="l" t="t" r="r" b="b"/>
                <a:pathLst>
                  <a:path w="510944" h="628203">
                    <a:moveTo>
                      <a:pt x="69095" y="0"/>
                    </a:moveTo>
                    <a:lnTo>
                      <a:pt x="441848" y="0"/>
                    </a:lnTo>
                    <a:cubicBezTo>
                      <a:pt x="460174" y="0"/>
                      <a:pt x="477748" y="7280"/>
                      <a:pt x="490706" y="20238"/>
                    </a:cubicBezTo>
                    <a:cubicBezTo>
                      <a:pt x="503664" y="33195"/>
                      <a:pt x="510944" y="50770"/>
                      <a:pt x="510944" y="69095"/>
                    </a:cubicBezTo>
                    <a:lnTo>
                      <a:pt x="510944" y="559108"/>
                    </a:lnTo>
                    <a:cubicBezTo>
                      <a:pt x="510944" y="577433"/>
                      <a:pt x="503664" y="595008"/>
                      <a:pt x="490706" y="607966"/>
                    </a:cubicBezTo>
                    <a:cubicBezTo>
                      <a:pt x="477748" y="620924"/>
                      <a:pt x="460174" y="628203"/>
                      <a:pt x="441848" y="628203"/>
                    </a:cubicBezTo>
                    <a:lnTo>
                      <a:pt x="69095" y="628203"/>
                    </a:lnTo>
                    <a:cubicBezTo>
                      <a:pt x="50770" y="628203"/>
                      <a:pt x="33195" y="620924"/>
                      <a:pt x="20238" y="607966"/>
                    </a:cubicBezTo>
                    <a:cubicBezTo>
                      <a:pt x="7280" y="595008"/>
                      <a:pt x="0" y="577433"/>
                      <a:pt x="0" y="559108"/>
                    </a:cubicBezTo>
                    <a:lnTo>
                      <a:pt x="0" y="69095"/>
                    </a:lnTo>
                    <a:cubicBezTo>
                      <a:pt x="0" y="50770"/>
                      <a:pt x="7280" y="33195"/>
                      <a:pt x="20238" y="20238"/>
                    </a:cubicBezTo>
                    <a:cubicBezTo>
                      <a:pt x="33195" y="7280"/>
                      <a:pt x="50770" y="0"/>
                      <a:pt x="69095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1474" r="-11474"/>
                </a:stretch>
              </a:blipFill>
            </p:spPr>
          </p:sp>
        </p:grpSp>
      </p:grpSp>
      <p:sp>
        <p:nvSpPr>
          <p:cNvPr id="14" name="Freeform 14"/>
          <p:cNvSpPr/>
          <p:nvPr/>
        </p:nvSpPr>
        <p:spPr>
          <a:xfrm>
            <a:off x="12552993" y="6208782"/>
            <a:ext cx="5098426" cy="3114675"/>
          </a:xfrm>
          <a:custGeom>
            <a:avLst/>
            <a:gdLst/>
            <a:ahLst/>
            <a:cxnLst/>
            <a:rect l="l" t="t" r="r" b="b"/>
            <a:pathLst>
              <a:path w="5098426" h="3114675">
                <a:moveTo>
                  <a:pt x="0" y="0"/>
                </a:moveTo>
                <a:lnTo>
                  <a:pt x="5098426" y="0"/>
                </a:lnTo>
                <a:lnTo>
                  <a:pt x="5098426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23020" y="962025"/>
            <a:ext cx="13395565" cy="88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80"/>
              </a:lnSpc>
              <a:spcBef>
                <a:spcPct val="0"/>
              </a:spcBef>
            </a:pPr>
            <a:r>
              <a:rPr lang="en-US" sz="5900" b="1">
                <a:latin typeface="Telegraf Bold"/>
                <a:ea typeface="Telegraf Bold"/>
                <a:cs typeface="Telegraf Bold"/>
                <a:sym typeface="Telegraf Bold"/>
              </a:rPr>
              <a:t>Introduction to Astro-sage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8266" y="2875032"/>
            <a:ext cx="1059032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61"/>
              </a:lnSpc>
              <a:spcBef>
                <a:spcPct val="0"/>
              </a:spcBef>
            </a:pPr>
            <a:r>
              <a:rPr lang="en-US" sz="3801" u="none" strike="noStrike">
                <a:latin typeface="Telegraf"/>
                <a:ea typeface="Telegraf"/>
                <a:cs typeface="Telegraf"/>
                <a:sym typeface="Telegraf"/>
              </a:rPr>
              <a:t>AstroSage is a website and app that provides astrology services, including horoscope matching, birth chart generation, and AI astrologers.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562665"/>
            <a:ext cx="9887184" cy="111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58"/>
              </a:lnSpc>
              <a:spcBef>
                <a:spcPct val="0"/>
              </a:spcBef>
            </a:pPr>
            <a:r>
              <a:rPr lang="en-US" sz="3548">
                <a:latin typeface="Telegraf"/>
                <a:ea typeface="Telegraf"/>
                <a:cs typeface="Telegraf"/>
                <a:sym typeface="Telegraf"/>
              </a:rPr>
              <a:t>AstroSage is used by many astrologers to create birth charts and match horoscopes.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825438"/>
            <a:ext cx="10046855" cy="152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8"/>
              </a:lnSpc>
              <a:spcBef>
                <a:spcPct val="0"/>
              </a:spcBef>
            </a:pPr>
            <a:r>
              <a:rPr lang="en-US" sz="3282">
                <a:latin typeface="Telegraf"/>
                <a:ea typeface="Telegraf"/>
                <a:cs typeface="Telegraf"/>
                <a:sym typeface="Telegraf"/>
              </a:rPr>
              <a:t>AstroSage is used by Hindus to make decisions about marriage, opening a business, or moving to a new home 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95970" y="291782"/>
            <a:ext cx="9009410" cy="1907038"/>
            <a:chOff x="0" y="0"/>
            <a:chExt cx="3286657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695693"/>
            </a:xfrm>
            <a:custGeom>
              <a:avLst/>
              <a:gdLst/>
              <a:ahLst/>
              <a:cxnLst/>
              <a:rect l="l" t="t" r="r" b="b"/>
              <a:pathLst>
                <a:path w="3286657" h="695693">
                  <a:moveTo>
                    <a:pt x="0" y="0"/>
                  </a:moveTo>
                  <a:lnTo>
                    <a:pt x="3286657" y="0"/>
                  </a:lnTo>
                  <a:lnTo>
                    <a:pt x="3286657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516595" y="2890478"/>
            <a:ext cx="9009410" cy="5787794"/>
            <a:chOff x="0" y="0"/>
            <a:chExt cx="3286657" cy="21114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86657" cy="2111403"/>
            </a:xfrm>
            <a:custGeom>
              <a:avLst/>
              <a:gdLst/>
              <a:ahLst/>
              <a:cxnLst/>
              <a:rect l="l" t="t" r="r" b="b"/>
              <a:pathLst>
                <a:path w="3286657" h="2111403">
                  <a:moveTo>
                    <a:pt x="0" y="0"/>
                  </a:moveTo>
                  <a:lnTo>
                    <a:pt x="3286657" y="0"/>
                  </a:lnTo>
                  <a:lnTo>
                    <a:pt x="3286657" y="2111403"/>
                  </a:lnTo>
                  <a:lnTo>
                    <a:pt x="0" y="21114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61150" y="657204"/>
            <a:ext cx="7087021" cy="8045795"/>
            <a:chOff x="0" y="0"/>
            <a:chExt cx="2585364" cy="29351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5364" cy="2935128"/>
            </a:xfrm>
            <a:custGeom>
              <a:avLst/>
              <a:gdLst/>
              <a:ahLst/>
              <a:cxnLst/>
              <a:rect l="l" t="t" r="r" b="b"/>
              <a:pathLst>
                <a:path w="2585364" h="2935128">
                  <a:moveTo>
                    <a:pt x="0" y="0"/>
                  </a:moveTo>
                  <a:lnTo>
                    <a:pt x="2585364" y="0"/>
                  </a:lnTo>
                  <a:lnTo>
                    <a:pt x="2585364" y="2935128"/>
                  </a:lnTo>
                  <a:lnTo>
                    <a:pt x="0" y="29351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626673" y="1011978"/>
            <a:ext cx="6355975" cy="7351955"/>
            <a:chOff x="0" y="0"/>
            <a:chExt cx="8474633" cy="9802607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rcRect t="11443" b="11443"/>
            <a:stretch>
              <a:fillRect/>
            </a:stretch>
          </p:blipFill>
          <p:spPr>
            <a:xfrm>
              <a:off x="0" y="0"/>
              <a:ext cx="8474633" cy="9802607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1876134" y="616651"/>
            <a:ext cx="7049083" cy="109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60"/>
              </a:lnSpc>
              <a:spcBef>
                <a:spcPct val="0"/>
              </a:spcBef>
            </a:pPr>
            <a:r>
              <a:rPr lang="en-US" sz="7300" b="1">
                <a:latin typeface="Telegraf Bold"/>
                <a:ea typeface="Telegraf Bold"/>
                <a:cs typeface="Telegraf Bold"/>
                <a:sym typeface="Telegraf Bold"/>
              </a:rPr>
              <a:t>Data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5788" y="3192068"/>
            <a:ext cx="6497240" cy="8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 dirty="0">
                <a:latin typeface="Canva Sans"/>
                <a:ea typeface="Canva Sans"/>
                <a:cs typeface="Canva Sans"/>
                <a:sym typeface="Canva Sans"/>
              </a:rPr>
              <a:t>There are 4 different consultation service that Astro-sage offers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5788" y="4240390"/>
            <a:ext cx="6497240" cy="40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>
                <a:latin typeface="Canva Sans"/>
                <a:ea typeface="Canva Sans"/>
                <a:cs typeface="Canva Sans"/>
                <a:sym typeface="Canva Sans"/>
              </a:rPr>
              <a:t>In total 149 Consultants are avialable.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5788" y="4920164"/>
            <a:ext cx="6497240" cy="171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>
                <a:latin typeface="Canva Sans"/>
                <a:ea typeface="Canva Sans"/>
                <a:cs typeface="Canva Sans"/>
                <a:sym typeface="Canva Sans"/>
              </a:rPr>
              <a:t>A good dataset is important to understand the operational cost , customer satisfaction and trend in the sales of call center.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5788" y="6836539"/>
            <a:ext cx="6497240" cy="1280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 dirty="0">
                <a:latin typeface="Canva Sans"/>
                <a:ea typeface="Canva Sans"/>
                <a:cs typeface="Canva Sans"/>
                <a:sym typeface="Canva Sans"/>
              </a:rPr>
              <a:t>This dataset enable us to predict and suggest future investments to grow the sales Turnover.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60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657204"/>
            <a:ext cx="6657733" cy="1906519"/>
            <a:chOff x="0" y="0"/>
            <a:chExt cx="2428759" cy="6955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8759" cy="695503"/>
            </a:xfrm>
            <a:custGeom>
              <a:avLst/>
              <a:gdLst/>
              <a:ahLst/>
              <a:cxnLst/>
              <a:rect l="l" t="t" r="r" b="b"/>
              <a:pathLst>
                <a:path w="2428759" h="695503">
                  <a:moveTo>
                    <a:pt x="0" y="0"/>
                  </a:moveTo>
                  <a:lnTo>
                    <a:pt x="2428759" y="0"/>
                  </a:lnTo>
                  <a:lnTo>
                    <a:pt x="2428759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116533" y="1775482"/>
            <a:ext cx="7724783" cy="5768744"/>
            <a:chOff x="0" y="0"/>
            <a:chExt cx="2818022" cy="21044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8022" cy="2104453"/>
            </a:xfrm>
            <a:custGeom>
              <a:avLst/>
              <a:gdLst/>
              <a:ahLst/>
              <a:cxnLst/>
              <a:rect l="l" t="t" r="r" b="b"/>
              <a:pathLst>
                <a:path w="2818022" h="2104453">
                  <a:moveTo>
                    <a:pt x="0" y="0"/>
                  </a:moveTo>
                  <a:lnTo>
                    <a:pt x="2818022" y="0"/>
                  </a:lnTo>
                  <a:lnTo>
                    <a:pt x="2818022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908900" y="3235000"/>
            <a:ext cx="121908" cy="121908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055579" y="7995212"/>
            <a:ext cx="121908" cy="121908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26069" y="1131033"/>
            <a:ext cx="6981839" cy="80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416" b="1">
                <a:latin typeface="Telegraf Bold"/>
                <a:ea typeface="Telegraf Bold"/>
                <a:cs typeface="Telegraf Bold"/>
                <a:sym typeface="Telegraf Bold"/>
              </a:rPr>
              <a:t>Methodology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75866" y="3356908"/>
            <a:ext cx="4465450" cy="4114800"/>
            <a:chOff x="0" y="0"/>
            <a:chExt cx="5953933" cy="548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69637" cy="5486400"/>
            </a:xfrm>
            <a:custGeom>
              <a:avLst/>
              <a:gdLst/>
              <a:ahLst/>
              <a:cxnLst/>
              <a:rect l="l" t="t" r="r" b="b"/>
              <a:pathLst>
                <a:path w="5769637" h="5486400">
                  <a:moveTo>
                    <a:pt x="0" y="0"/>
                  </a:moveTo>
                  <a:lnTo>
                    <a:pt x="5769637" y="0"/>
                  </a:lnTo>
                  <a:lnTo>
                    <a:pt x="576963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4296" y="0"/>
              <a:ext cx="5769637" cy="5486400"/>
            </a:xfrm>
            <a:custGeom>
              <a:avLst/>
              <a:gdLst/>
              <a:ahLst/>
              <a:cxnLst/>
              <a:rect l="l" t="t" r="r" b="b"/>
              <a:pathLst>
                <a:path w="5769637" h="5486400">
                  <a:moveTo>
                    <a:pt x="0" y="0"/>
                  </a:moveTo>
                  <a:lnTo>
                    <a:pt x="5769637" y="0"/>
                  </a:lnTo>
                  <a:lnTo>
                    <a:pt x="576963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0502988" y="2177746"/>
            <a:ext cx="2872879" cy="4114800"/>
          </a:xfrm>
          <a:custGeom>
            <a:avLst/>
            <a:gdLst/>
            <a:ahLst/>
            <a:cxnLst/>
            <a:rect l="l" t="t" r="r" b="b"/>
            <a:pathLst>
              <a:path w="2872879" h="4114800">
                <a:moveTo>
                  <a:pt x="0" y="0"/>
                </a:moveTo>
                <a:lnTo>
                  <a:pt x="2872878" y="0"/>
                </a:lnTo>
                <a:lnTo>
                  <a:pt x="28728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516595" y="2890478"/>
            <a:ext cx="9009410" cy="6367822"/>
            <a:chOff x="0" y="0"/>
            <a:chExt cx="3286657" cy="23229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86657" cy="2322999"/>
            </a:xfrm>
            <a:custGeom>
              <a:avLst/>
              <a:gdLst/>
              <a:ahLst/>
              <a:cxnLst/>
              <a:rect l="l" t="t" r="r" b="b"/>
              <a:pathLst>
                <a:path w="3286657" h="2322999">
                  <a:moveTo>
                    <a:pt x="0" y="0"/>
                  </a:moveTo>
                  <a:lnTo>
                    <a:pt x="3286657" y="0"/>
                  </a:lnTo>
                  <a:lnTo>
                    <a:pt x="3286657" y="2322999"/>
                  </a:lnTo>
                  <a:lnTo>
                    <a:pt x="0" y="23229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73784" y="3131095"/>
            <a:ext cx="8270216" cy="8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>
                <a:latin typeface="Canva Sans"/>
                <a:ea typeface="Canva Sans"/>
                <a:cs typeface="Canva Sans"/>
                <a:sym typeface="Canva Sans"/>
              </a:rPr>
              <a:t>Data Cleaning -: Used spreadsheets functions like trim and Removing duplicates for data cleaning.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6069" y="4310429"/>
            <a:ext cx="8270216" cy="8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>
                <a:latin typeface="Canva Sans"/>
                <a:ea typeface="Canva Sans"/>
                <a:cs typeface="Canva Sans"/>
                <a:sym typeface="Canva Sans"/>
              </a:rPr>
              <a:t>Data Enrichment -: Added new variables using Date functions for better analysis 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6069" y="5367815"/>
            <a:ext cx="8056058" cy="77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397" lvl="1" indent="-240698" algn="l">
              <a:lnSpc>
                <a:spcPts val="3121"/>
              </a:lnSpc>
              <a:buFont typeface="Arial"/>
              <a:buChar char="•"/>
            </a:pPr>
            <a:r>
              <a:rPr lang="en-US" sz="2229">
                <a:latin typeface="Canva Sans"/>
                <a:ea typeface="Canva Sans"/>
                <a:cs typeface="Canva Sans"/>
                <a:sym typeface="Canva Sans"/>
              </a:rPr>
              <a:t>Customer Segmentation -: Used Sorting and Filtering to classify customers based on consultation type.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069" y="6476058"/>
            <a:ext cx="8270216" cy="113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117" lvl="1" indent="-231558" algn="l">
              <a:lnSpc>
                <a:spcPts val="3003"/>
              </a:lnSpc>
              <a:buFont typeface="Arial"/>
              <a:buChar char="•"/>
            </a:pPr>
            <a:r>
              <a:rPr lang="en-US" sz="2145">
                <a:latin typeface="Canva Sans"/>
                <a:ea typeface="Canva Sans"/>
                <a:cs typeface="Canva Sans"/>
                <a:sym typeface="Canva Sans"/>
              </a:rPr>
              <a:t>Used Pivot tables to analyze the performance of consultants over different category type and ratings recieved on basis of consultations from users.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3784" y="7945574"/>
            <a:ext cx="8056058" cy="77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397" lvl="1" indent="-240698" algn="l">
              <a:lnSpc>
                <a:spcPts val="3121"/>
              </a:lnSpc>
              <a:buFont typeface="Arial"/>
              <a:buChar char="•"/>
            </a:pPr>
            <a:r>
              <a:rPr lang="en-US" sz="2229">
                <a:latin typeface="Canva Sans"/>
                <a:ea typeface="Canva Sans"/>
                <a:cs typeface="Canva Sans"/>
                <a:sym typeface="Canva Sans"/>
              </a:rPr>
              <a:t>Visulaization -: Created interactive dashboard using different charts for detailed view of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495" y="688692"/>
            <a:ext cx="8045761" cy="1233493"/>
            <a:chOff x="0" y="0"/>
            <a:chExt cx="2935115" cy="449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115" cy="449982"/>
            </a:xfrm>
            <a:custGeom>
              <a:avLst/>
              <a:gdLst/>
              <a:ahLst/>
              <a:cxnLst/>
              <a:rect l="l" t="t" r="r" b="b"/>
              <a:pathLst>
                <a:path w="2935115" h="449982">
                  <a:moveTo>
                    <a:pt x="0" y="0"/>
                  </a:moveTo>
                  <a:lnTo>
                    <a:pt x="2935115" y="0"/>
                  </a:lnTo>
                  <a:lnTo>
                    <a:pt x="2935115" y="449982"/>
                  </a:lnTo>
                  <a:lnTo>
                    <a:pt x="0" y="449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87928" y="2096873"/>
            <a:ext cx="9763418" cy="6971261"/>
            <a:chOff x="0" y="0"/>
            <a:chExt cx="2294294" cy="1638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94294" cy="1638168"/>
            </a:xfrm>
            <a:custGeom>
              <a:avLst/>
              <a:gdLst/>
              <a:ahLst/>
              <a:cxnLst/>
              <a:rect l="l" t="t" r="r" b="b"/>
              <a:pathLst>
                <a:path w="2294294" h="1638168">
                  <a:moveTo>
                    <a:pt x="40441" y="0"/>
                  </a:moveTo>
                  <a:lnTo>
                    <a:pt x="2253853" y="0"/>
                  </a:lnTo>
                  <a:cubicBezTo>
                    <a:pt x="2276188" y="0"/>
                    <a:pt x="2294294" y="18106"/>
                    <a:pt x="2294294" y="40441"/>
                  </a:cubicBezTo>
                  <a:lnTo>
                    <a:pt x="2294294" y="1597728"/>
                  </a:lnTo>
                  <a:cubicBezTo>
                    <a:pt x="2294294" y="1608453"/>
                    <a:pt x="2290033" y="1618740"/>
                    <a:pt x="2282449" y="1626324"/>
                  </a:cubicBezTo>
                  <a:cubicBezTo>
                    <a:pt x="2274865" y="1633908"/>
                    <a:pt x="2264579" y="1638168"/>
                    <a:pt x="2253853" y="1638168"/>
                  </a:cubicBezTo>
                  <a:lnTo>
                    <a:pt x="40441" y="1638168"/>
                  </a:lnTo>
                  <a:cubicBezTo>
                    <a:pt x="29715" y="1638168"/>
                    <a:pt x="19429" y="1633908"/>
                    <a:pt x="11845" y="1626324"/>
                  </a:cubicBezTo>
                  <a:cubicBezTo>
                    <a:pt x="4261" y="1618740"/>
                    <a:pt x="0" y="1608453"/>
                    <a:pt x="0" y="1597728"/>
                  </a:cubicBezTo>
                  <a:lnTo>
                    <a:pt x="0" y="40441"/>
                  </a:lnTo>
                  <a:cubicBezTo>
                    <a:pt x="0" y="29715"/>
                    <a:pt x="4261" y="19429"/>
                    <a:pt x="11845" y="11845"/>
                  </a:cubicBezTo>
                  <a:cubicBezTo>
                    <a:pt x="19429" y="4261"/>
                    <a:pt x="29715" y="0"/>
                    <a:pt x="40441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294294" cy="1685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87084" y="494936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38600" y="356748"/>
            <a:ext cx="11391900" cy="820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 dirty="0" err="1">
                <a:latin typeface="Telegraf Bold"/>
                <a:ea typeface="Telegraf Bold"/>
                <a:cs typeface="Telegraf Bold"/>
                <a:sym typeface="Telegraf Bold"/>
              </a:rPr>
              <a:t>Hourwise</a:t>
            </a:r>
            <a:r>
              <a:rPr lang="en-US" sz="5499" b="1" dirty="0">
                <a:latin typeface="Telegraf Bold"/>
                <a:ea typeface="Telegraf Bold"/>
                <a:cs typeface="Telegraf Bold"/>
                <a:sym typeface="Telegraf Bold"/>
              </a:rPr>
              <a:t> Call Distribution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96271" y="2862157"/>
            <a:ext cx="7686595" cy="126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467" lvl="1" indent="-392733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latin typeface="Canva Sans"/>
                <a:ea typeface="Canva Sans"/>
                <a:cs typeface="Canva Sans"/>
                <a:sym typeface="Canva Sans"/>
              </a:rPr>
              <a:t>The above graph shows the hour wise  call distribution.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96271" y="4643560"/>
            <a:ext cx="7686595" cy="1178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506" lvl="1" indent="-365753" algn="l">
              <a:lnSpc>
                <a:spcPts val="4743"/>
              </a:lnSpc>
              <a:buFont typeface="Arial"/>
              <a:buChar char="•"/>
            </a:pPr>
            <a:r>
              <a:rPr lang="en-US" sz="3388">
                <a:latin typeface="Canva Sans"/>
                <a:ea typeface="Canva Sans"/>
                <a:cs typeface="Canva Sans"/>
                <a:sym typeface="Canva Sans"/>
              </a:rPr>
              <a:t>660 calls are the most in a single an  hour 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6271" y="6155259"/>
            <a:ext cx="7851838" cy="221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43" lvl="1" indent="-340021" algn="l">
              <a:lnSpc>
                <a:spcPts val="4409"/>
              </a:lnSpc>
              <a:buFont typeface="Arial"/>
              <a:buChar char="•"/>
            </a:pPr>
            <a:r>
              <a:rPr lang="en-US" sz="3149">
                <a:latin typeface="Canva Sans"/>
                <a:ea typeface="Canva Sans"/>
                <a:cs typeface="Canva Sans"/>
                <a:sym typeface="Canva Sans"/>
              </a:rPr>
              <a:t>The mid-morning hours generally recieves more number of calls round the whole day</a:t>
            </a:r>
          </a:p>
          <a:p>
            <a:pPr algn="l">
              <a:lnSpc>
                <a:spcPts val="4409"/>
              </a:lnSpc>
            </a:pPr>
            <a:r>
              <a:rPr lang="en-US" sz="3149">
                <a:latin typeface="Canva Sans"/>
                <a:ea typeface="Canva Sans"/>
                <a:cs typeface="Canva Sans"/>
                <a:sym typeface="Canva Sans"/>
              </a:rPr>
              <a:t>       as per the dataset.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BCBBA95-F372-42E7-B674-8BD5D25619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4652658"/>
              </p:ext>
            </p:extLst>
          </p:nvPr>
        </p:nvGraphicFramePr>
        <p:xfrm>
          <a:off x="560045" y="2434962"/>
          <a:ext cx="9447295" cy="6295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1791118"/>
            <a:ext cx="9873078" cy="6817920"/>
            <a:chOff x="0" y="0"/>
            <a:chExt cx="2294294" cy="15843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4294" cy="1584340"/>
            </a:xfrm>
            <a:custGeom>
              <a:avLst/>
              <a:gdLst/>
              <a:ahLst/>
              <a:cxnLst/>
              <a:rect l="l" t="t" r="r" b="b"/>
              <a:pathLst>
                <a:path w="2294294" h="1584340">
                  <a:moveTo>
                    <a:pt x="39991" y="0"/>
                  </a:moveTo>
                  <a:lnTo>
                    <a:pt x="2254303" y="0"/>
                  </a:lnTo>
                  <a:cubicBezTo>
                    <a:pt x="2276389" y="0"/>
                    <a:pt x="2294294" y="17905"/>
                    <a:pt x="2294294" y="39991"/>
                  </a:cubicBezTo>
                  <a:lnTo>
                    <a:pt x="2294294" y="1544349"/>
                  </a:lnTo>
                  <a:cubicBezTo>
                    <a:pt x="2294294" y="1566435"/>
                    <a:pt x="2276389" y="1584340"/>
                    <a:pt x="2254303" y="1584340"/>
                  </a:cubicBezTo>
                  <a:lnTo>
                    <a:pt x="39991" y="1584340"/>
                  </a:lnTo>
                  <a:cubicBezTo>
                    <a:pt x="17905" y="1584340"/>
                    <a:pt x="0" y="1566435"/>
                    <a:pt x="0" y="1544349"/>
                  </a:cubicBezTo>
                  <a:lnTo>
                    <a:pt x="0" y="39991"/>
                  </a:lnTo>
                  <a:cubicBezTo>
                    <a:pt x="0" y="17905"/>
                    <a:pt x="17905" y="0"/>
                    <a:pt x="39991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94294" cy="1631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62400" y="346068"/>
            <a:ext cx="12149605" cy="820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1" dirty="0">
                <a:latin typeface="Telegraf Bold"/>
                <a:ea typeface="Telegraf Bold"/>
                <a:cs typeface="Telegraf Bold"/>
                <a:sym typeface="Telegraf Bold"/>
              </a:rPr>
              <a:t>Day Wise Call Distribution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78963" y="2557830"/>
            <a:ext cx="7686595" cy="126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5467" lvl="1" indent="-392733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latin typeface="Canva Sans"/>
                <a:ea typeface="Canva Sans"/>
                <a:cs typeface="Canva Sans"/>
                <a:sym typeface="Canva Sans"/>
              </a:rPr>
              <a:t>The above graph shows the Day-wise call distribution.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35078" y="4265472"/>
            <a:ext cx="6846368" cy="177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506" lvl="1" indent="-365753" algn="l">
              <a:lnSpc>
                <a:spcPts val="4743"/>
              </a:lnSpc>
              <a:buFont typeface="Arial"/>
              <a:buChar char="•"/>
            </a:pPr>
            <a:r>
              <a:rPr lang="en-US" sz="3388">
                <a:latin typeface="Canva Sans"/>
                <a:ea typeface="Canva Sans"/>
                <a:cs typeface="Canva Sans"/>
                <a:sym typeface="Canva Sans"/>
              </a:rPr>
              <a:t>430 calls is the maximum amount of call received on a single day.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78963" y="6395944"/>
            <a:ext cx="6802484" cy="165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43" lvl="1" indent="-340021" algn="l">
              <a:lnSpc>
                <a:spcPts val="4409"/>
              </a:lnSpc>
              <a:buFont typeface="Arial"/>
              <a:buChar char="•"/>
            </a:pPr>
            <a:r>
              <a:rPr lang="en-US" sz="3149">
                <a:latin typeface="Canva Sans"/>
                <a:ea typeface="Canva Sans"/>
                <a:cs typeface="Canva Sans"/>
                <a:sym typeface="Canva Sans"/>
              </a:rPr>
              <a:t>On an average the call center recieves around 250 calls on a daily basis.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9960069-C837-4012-B7CD-A4FC223409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4705945"/>
              </p:ext>
            </p:extLst>
          </p:nvPr>
        </p:nvGraphicFramePr>
        <p:xfrm>
          <a:off x="872544" y="1999887"/>
          <a:ext cx="9651989" cy="6400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69242" y="2151002"/>
            <a:ext cx="7796486" cy="6890195"/>
            <a:chOff x="0" y="0"/>
            <a:chExt cx="2053395" cy="18147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>
                <a:highlight>
                  <a:srgbClr val="FFFF00"/>
                </a:highlight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029200" y="342900"/>
            <a:ext cx="10604708" cy="2297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63"/>
              </a:lnSpc>
            </a:pPr>
            <a:r>
              <a:rPr lang="en-US" sz="8000" b="1" dirty="0"/>
              <a:t>Product Wise Revenue</a:t>
            </a:r>
          </a:p>
          <a:p>
            <a:pPr algn="l">
              <a:lnSpc>
                <a:spcPts val="9063"/>
              </a:lnSpc>
            </a:pPr>
            <a:endParaRPr lang="en-US" sz="7553" b="1" dirty="0"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28754" y="5760463"/>
            <a:ext cx="8533304" cy="252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 dirty="0">
                <a:latin typeface="Canva Sans"/>
                <a:ea typeface="Canva Sans"/>
                <a:cs typeface="Canva Sans"/>
                <a:sym typeface="Canva Sans"/>
              </a:rPr>
              <a:t>Product-wise revenue Pie Chart , presents an impactful insight that the calls consultation are most profitable.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8754" y="2383802"/>
            <a:ext cx="8533304" cy="31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Product-wise revenue Pie Chart , presents a detailed insight about the revenue generated by different consultation-types as per the percentage of total revenue.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191083E0-D117-4FCF-9822-236CE92251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2337966"/>
              </p:ext>
            </p:extLst>
          </p:nvPr>
        </p:nvGraphicFramePr>
        <p:xfrm>
          <a:off x="1009885" y="2377132"/>
          <a:ext cx="7315200" cy="6341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69242" y="2151002"/>
            <a:ext cx="7796486" cy="6890195"/>
            <a:chOff x="0" y="0"/>
            <a:chExt cx="2053395" cy="18147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91200" y="453411"/>
            <a:ext cx="9309308" cy="2297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63"/>
              </a:lnSpc>
            </a:pPr>
            <a:r>
              <a:rPr lang="en-US" sz="8000" b="1" dirty="0"/>
              <a:t>Website Distribution</a:t>
            </a:r>
          </a:p>
          <a:p>
            <a:pPr algn="l">
              <a:lnSpc>
                <a:spcPts val="9063"/>
              </a:lnSpc>
            </a:pPr>
            <a:endParaRPr lang="en-US" sz="7553" b="1" dirty="0"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28754" y="5760463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least amount of consultations appear from dashboard.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8754" y="2383802"/>
            <a:ext cx="8533304" cy="31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 dirty="0">
                <a:latin typeface="Canva Sans"/>
                <a:ea typeface="Canva Sans"/>
                <a:cs typeface="Canva Sans"/>
                <a:sym typeface="Canva Sans"/>
              </a:rPr>
              <a:t>The website distribution pie chart is presented with the different websites showing count consultations through different website channels.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8754" y="7520904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most amount consultations are  from gurucool.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DDD2B2F-D4E6-4408-B0FA-3941BA3EF2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556302"/>
              </p:ext>
            </p:extLst>
          </p:nvPr>
        </p:nvGraphicFramePr>
        <p:xfrm>
          <a:off x="967332" y="2303934"/>
          <a:ext cx="7400305" cy="6493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45607" y="1890364"/>
            <a:ext cx="7796486" cy="6890195"/>
            <a:chOff x="0" y="0"/>
            <a:chExt cx="2053395" cy="18147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810000" y="456179"/>
            <a:ext cx="12420600" cy="1130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63"/>
              </a:lnSpc>
            </a:pPr>
            <a:r>
              <a:rPr lang="en-US" sz="7553" b="1" dirty="0">
                <a:latin typeface="Telegraf Bold"/>
                <a:ea typeface="Telegraf Bold"/>
                <a:cs typeface="Telegraf Bold"/>
                <a:sym typeface="Telegraf Bold"/>
              </a:rPr>
              <a:t>Call Status Distribution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28754" y="5268822"/>
            <a:ext cx="8533304" cy="59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completed calls are 25%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8754" y="2383802"/>
            <a:ext cx="8533304" cy="252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call-status pie chart is presented with the different responses by the user i.e. the end result of consultation.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8754" y="6430880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 dirty="0">
                <a:latin typeface="Canva Sans"/>
                <a:ea typeface="Canva Sans"/>
                <a:cs typeface="Canva Sans"/>
                <a:sym typeface="Canva Sans"/>
              </a:rPr>
              <a:t>There are the most amount failed calls.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28754" y="8049757"/>
            <a:ext cx="8533304" cy="18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NA represents the consultations done on any other consultation-type than calls.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9984214-D6BF-4289-96E5-D6E7455762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8623449"/>
              </p:ext>
            </p:extLst>
          </p:nvPr>
        </p:nvGraphicFramePr>
        <p:xfrm>
          <a:off x="905494" y="2124134"/>
          <a:ext cx="7247906" cy="6453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495" y="656871"/>
            <a:ext cx="8045761" cy="1233493"/>
            <a:chOff x="0" y="0"/>
            <a:chExt cx="2935115" cy="449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115" cy="449982"/>
            </a:xfrm>
            <a:custGeom>
              <a:avLst/>
              <a:gdLst/>
              <a:ahLst/>
              <a:cxnLst/>
              <a:rect l="l" t="t" r="r" b="b"/>
              <a:pathLst>
                <a:path w="2935115" h="449982">
                  <a:moveTo>
                    <a:pt x="0" y="0"/>
                  </a:moveTo>
                  <a:lnTo>
                    <a:pt x="2935115" y="0"/>
                  </a:lnTo>
                  <a:lnTo>
                    <a:pt x="2935115" y="449982"/>
                  </a:lnTo>
                  <a:lnTo>
                    <a:pt x="0" y="449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69242" y="2151002"/>
            <a:ext cx="7796486" cy="6890195"/>
            <a:chOff x="0" y="0"/>
            <a:chExt cx="2053395" cy="18147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76600" y="506205"/>
            <a:ext cx="12420600" cy="1130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63"/>
              </a:lnSpc>
            </a:pPr>
            <a:r>
              <a:rPr lang="en-US" sz="7553" b="1" dirty="0">
                <a:latin typeface="Telegraf Bold"/>
                <a:ea typeface="Telegraf Bold"/>
                <a:cs typeface="Telegraf Bold"/>
                <a:sym typeface="Telegraf Bold"/>
              </a:rPr>
              <a:t>Chat Status Distribution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28754" y="5268822"/>
            <a:ext cx="8533304" cy="59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completed chats are 20%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8754" y="2383802"/>
            <a:ext cx="8533304" cy="252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 dirty="0">
                <a:latin typeface="Canva Sans"/>
                <a:ea typeface="Canva Sans"/>
                <a:cs typeface="Canva Sans"/>
                <a:sym typeface="Canva Sans"/>
              </a:rPr>
              <a:t>The chat-status pie chart is presented with the different responses by the user i.e. the end result of consultation.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8754" y="6430880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There are the most amount failed chats.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28754" y="8049757"/>
            <a:ext cx="8533304" cy="18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On call represents the consultations done on any other consultation-type than calls.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9A50516-A731-48D7-B0C9-732DAFC3E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187248"/>
              </p:ext>
            </p:extLst>
          </p:nvPr>
        </p:nvGraphicFramePr>
        <p:xfrm>
          <a:off x="905495" y="2383802"/>
          <a:ext cx="7476505" cy="6493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495" y="656871"/>
            <a:ext cx="8045761" cy="1233493"/>
            <a:chOff x="0" y="0"/>
            <a:chExt cx="2935115" cy="449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115" cy="449982"/>
            </a:xfrm>
            <a:custGeom>
              <a:avLst/>
              <a:gdLst/>
              <a:ahLst/>
              <a:cxnLst/>
              <a:rect l="l" t="t" r="r" b="b"/>
              <a:pathLst>
                <a:path w="2935115" h="449982">
                  <a:moveTo>
                    <a:pt x="0" y="0"/>
                  </a:moveTo>
                  <a:lnTo>
                    <a:pt x="2935115" y="0"/>
                  </a:lnTo>
                  <a:lnTo>
                    <a:pt x="2935115" y="449982"/>
                  </a:lnTo>
                  <a:lnTo>
                    <a:pt x="0" y="449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7344" y="2151002"/>
            <a:ext cx="8533304" cy="6345298"/>
            <a:chOff x="0" y="0"/>
            <a:chExt cx="2753164" cy="18147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3164" cy="1814702"/>
            </a:xfrm>
            <a:custGeom>
              <a:avLst/>
              <a:gdLst/>
              <a:ahLst/>
              <a:cxnLst/>
              <a:rect l="l" t="t" r="r" b="b"/>
              <a:pathLst>
                <a:path w="2753164" h="1814702">
                  <a:moveTo>
                    <a:pt x="49040" y="0"/>
                  </a:moveTo>
                  <a:lnTo>
                    <a:pt x="2704125" y="0"/>
                  </a:lnTo>
                  <a:cubicBezTo>
                    <a:pt x="2731208" y="0"/>
                    <a:pt x="2753164" y="21956"/>
                    <a:pt x="2753164" y="49040"/>
                  </a:cubicBezTo>
                  <a:lnTo>
                    <a:pt x="2753164" y="1765662"/>
                  </a:lnTo>
                  <a:cubicBezTo>
                    <a:pt x="2753164" y="1778668"/>
                    <a:pt x="2747998" y="1791142"/>
                    <a:pt x="2738801" y="1800338"/>
                  </a:cubicBezTo>
                  <a:cubicBezTo>
                    <a:pt x="2729604" y="1809535"/>
                    <a:pt x="2717131" y="1814702"/>
                    <a:pt x="2704125" y="1814702"/>
                  </a:cubicBezTo>
                  <a:lnTo>
                    <a:pt x="49040" y="1814702"/>
                  </a:lnTo>
                  <a:cubicBezTo>
                    <a:pt x="36034" y="1814702"/>
                    <a:pt x="23560" y="1809535"/>
                    <a:pt x="14363" y="1800338"/>
                  </a:cubicBezTo>
                  <a:cubicBezTo>
                    <a:pt x="5167" y="1791142"/>
                    <a:pt x="0" y="1778668"/>
                    <a:pt x="0" y="1765662"/>
                  </a:cubicBezTo>
                  <a:lnTo>
                    <a:pt x="0" y="49040"/>
                  </a:lnTo>
                  <a:cubicBezTo>
                    <a:pt x="0" y="36034"/>
                    <a:pt x="5167" y="23560"/>
                    <a:pt x="14363" y="14363"/>
                  </a:cubicBezTo>
                  <a:cubicBezTo>
                    <a:pt x="23560" y="5167"/>
                    <a:pt x="36034" y="0"/>
                    <a:pt x="49040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753164" cy="1862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114800" y="463095"/>
            <a:ext cx="11731366" cy="1130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63"/>
              </a:lnSpc>
            </a:pPr>
            <a:r>
              <a:rPr lang="en-US" sz="7553" b="1" dirty="0">
                <a:latin typeface="Telegraf Bold"/>
                <a:ea typeface="Telegraf Bold"/>
                <a:cs typeface="Telegraf Bold"/>
                <a:sym typeface="Telegraf Bold"/>
              </a:rPr>
              <a:t>Rating Wise Guru Rating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51256" y="4376083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ratings of Gurus that consulted on chats is better than on calls.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8754" y="2383802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column chart represents the rating-wise guru distribution.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51256" y="6229598"/>
            <a:ext cx="8533304" cy="18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calls consultation needs to be worked on and improve to increase the quality of consultation.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E99AF33-DC4B-4355-944B-3436ED53D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8407239"/>
              </p:ext>
            </p:extLst>
          </p:nvPr>
        </p:nvGraphicFramePr>
        <p:xfrm>
          <a:off x="457201" y="2294112"/>
          <a:ext cx="8077200" cy="6008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495" y="656871"/>
            <a:ext cx="8045761" cy="1233493"/>
            <a:chOff x="0" y="0"/>
            <a:chExt cx="2935115" cy="449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115" cy="449982"/>
            </a:xfrm>
            <a:custGeom>
              <a:avLst/>
              <a:gdLst/>
              <a:ahLst/>
              <a:cxnLst/>
              <a:rect l="l" t="t" r="r" b="b"/>
              <a:pathLst>
                <a:path w="2935115" h="449982">
                  <a:moveTo>
                    <a:pt x="0" y="0"/>
                  </a:moveTo>
                  <a:lnTo>
                    <a:pt x="2935115" y="0"/>
                  </a:lnTo>
                  <a:lnTo>
                    <a:pt x="2935115" y="449982"/>
                  </a:lnTo>
                  <a:lnTo>
                    <a:pt x="0" y="449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11329" y="2363551"/>
            <a:ext cx="8732671" cy="6374264"/>
            <a:chOff x="0" y="0"/>
            <a:chExt cx="2986122" cy="2179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6122" cy="2179669"/>
            </a:xfrm>
            <a:custGeom>
              <a:avLst/>
              <a:gdLst/>
              <a:ahLst/>
              <a:cxnLst/>
              <a:rect l="l" t="t" r="r" b="b"/>
              <a:pathLst>
                <a:path w="2986122" h="2179669">
                  <a:moveTo>
                    <a:pt x="45214" y="0"/>
                  </a:moveTo>
                  <a:lnTo>
                    <a:pt x="2940908" y="0"/>
                  </a:lnTo>
                  <a:cubicBezTo>
                    <a:pt x="2952899" y="0"/>
                    <a:pt x="2964400" y="4764"/>
                    <a:pt x="2972879" y="13243"/>
                  </a:cubicBezTo>
                  <a:cubicBezTo>
                    <a:pt x="2981358" y="21722"/>
                    <a:pt x="2986122" y="33222"/>
                    <a:pt x="2986122" y="45214"/>
                  </a:cubicBezTo>
                  <a:lnTo>
                    <a:pt x="2986122" y="2134455"/>
                  </a:lnTo>
                  <a:cubicBezTo>
                    <a:pt x="2986122" y="2159426"/>
                    <a:pt x="2965879" y="2179669"/>
                    <a:pt x="2940908" y="2179669"/>
                  </a:cubicBezTo>
                  <a:lnTo>
                    <a:pt x="45214" y="2179669"/>
                  </a:lnTo>
                  <a:cubicBezTo>
                    <a:pt x="20243" y="2179669"/>
                    <a:pt x="0" y="2159426"/>
                    <a:pt x="0" y="2134455"/>
                  </a:cubicBezTo>
                  <a:lnTo>
                    <a:pt x="0" y="45214"/>
                  </a:lnTo>
                  <a:cubicBezTo>
                    <a:pt x="0" y="33222"/>
                    <a:pt x="4764" y="21722"/>
                    <a:pt x="13243" y="13243"/>
                  </a:cubicBezTo>
                  <a:cubicBezTo>
                    <a:pt x="21722" y="4764"/>
                    <a:pt x="33222" y="0"/>
                    <a:pt x="45214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986122" cy="222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05400" y="571893"/>
            <a:ext cx="10452308" cy="1130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63"/>
              </a:lnSpc>
            </a:pPr>
            <a:r>
              <a:rPr lang="en-US" sz="7553" b="1" dirty="0">
                <a:latin typeface="Telegraf Bold"/>
                <a:ea typeface="Telegraf Bold"/>
                <a:cs typeface="Telegraf Bold"/>
                <a:sym typeface="Telegraf Bold"/>
              </a:rPr>
              <a:t>User Wise Rating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28754" y="4322330"/>
            <a:ext cx="8533304" cy="18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ratings of users who were consulted on chats is better than on calls.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28754" y="2383802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column chart represents the rating-wise user distribution.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8754" y="6442146"/>
            <a:ext cx="8533304" cy="18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calls consultation needs to be worked on and improve to increase the quality of consultation.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C549C79-4FAA-4E2F-B383-E2CA11DD76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587669"/>
              </p:ext>
            </p:extLst>
          </p:nvPr>
        </p:nvGraphicFramePr>
        <p:xfrm>
          <a:off x="600864" y="2628900"/>
          <a:ext cx="8350392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5495" y="656871"/>
            <a:ext cx="8045761" cy="1233493"/>
            <a:chOff x="0" y="0"/>
            <a:chExt cx="2935115" cy="4499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115" cy="449982"/>
            </a:xfrm>
            <a:custGeom>
              <a:avLst/>
              <a:gdLst/>
              <a:ahLst/>
              <a:cxnLst/>
              <a:rect l="l" t="t" r="r" b="b"/>
              <a:pathLst>
                <a:path w="2935115" h="449982">
                  <a:moveTo>
                    <a:pt x="0" y="0"/>
                  </a:moveTo>
                  <a:lnTo>
                    <a:pt x="2935115" y="0"/>
                  </a:lnTo>
                  <a:lnTo>
                    <a:pt x="2935115" y="449982"/>
                  </a:lnTo>
                  <a:lnTo>
                    <a:pt x="0" y="44998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11329" y="2363551"/>
            <a:ext cx="9065368" cy="5549251"/>
            <a:chOff x="0" y="0"/>
            <a:chExt cx="3560750" cy="21796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60750" cy="2179669"/>
            </a:xfrm>
            <a:custGeom>
              <a:avLst/>
              <a:gdLst/>
              <a:ahLst/>
              <a:cxnLst/>
              <a:rect l="l" t="t" r="r" b="b"/>
              <a:pathLst>
                <a:path w="3560750" h="2179669">
                  <a:moveTo>
                    <a:pt x="43555" y="0"/>
                  </a:moveTo>
                  <a:lnTo>
                    <a:pt x="3517195" y="0"/>
                  </a:lnTo>
                  <a:cubicBezTo>
                    <a:pt x="3528747" y="0"/>
                    <a:pt x="3539825" y="4589"/>
                    <a:pt x="3547993" y="12757"/>
                  </a:cubicBezTo>
                  <a:cubicBezTo>
                    <a:pt x="3556161" y="20925"/>
                    <a:pt x="3560750" y="32003"/>
                    <a:pt x="3560750" y="43555"/>
                  </a:cubicBezTo>
                  <a:lnTo>
                    <a:pt x="3560750" y="2136114"/>
                  </a:lnTo>
                  <a:cubicBezTo>
                    <a:pt x="3560750" y="2147665"/>
                    <a:pt x="3556161" y="2158744"/>
                    <a:pt x="3547993" y="2166912"/>
                  </a:cubicBezTo>
                  <a:cubicBezTo>
                    <a:pt x="3539825" y="2175080"/>
                    <a:pt x="3528747" y="2179669"/>
                    <a:pt x="3517195" y="2179669"/>
                  </a:cubicBezTo>
                  <a:lnTo>
                    <a:pt x="43555" y="2179669"/>
                  </a:lnTo>
                  <a:cubicBezTo>
                    <a:pt x="19500" y="2179669"/>
                    <a:pt x="0" y="2160169"/>
                    <a:pt x="0" y="2136114"/>
                  </a:cubicBezTo>
                  <a:lnTo>
                    <a:pt x="0" y="43555"/>
                  </a:lnTo>
                  <a:cubicBezTo>
                    <a:pt x="0" y="32003"/>
                    <a:pt x="4589" y="20925"/>
                    <a:pt x="12757" y="12757"/>
                  </a:cubicBezTo>
                  <a:cubicBezTo>
                    <a:pt x="20925" y="4589"/>
                    <a:pt x="32003" y="0"/>
                    <a:pt x="43555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560750" cy="2227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43400" y="663013"/>
            <a:ext cx="10669028" cy="1130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63"/>
              </a:lnSpc>
            </a:pPr>
            <a:r>
              <a:rPr lang="en-US" sz="7553" b="1" dirty="0">
                <a:latin typeface="Telegraf Bold"/>
                <a:ea typeface="Telegraf Bold"/>
                <a:cs typeface="Telegraf Bold"/>
                <a:sym typeface="Telegraf Bold"/>
              </a:rPr>
              <a:t>Top 10 Guru Rating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6697" y="4275887"/>
            <a:ext cx="8533304" cy="18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7.5 is the average highest rating received by the Tarot Mystical and </a:t>
            </a:r>
          </a:p>
          <a:p>
            <a:pPr algn="l">
              <a:lnSpc>
                <a:spcPts val="4998"/>
              </a:lnSpc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       Astro Puja Rai.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6697" y="2760577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 dirty="0">
                <a:latin typeface="Canva Sans"/>
                <a:ea typeface="Canva Sans"/>
                <a:cs typeface="Canva Sans"/>
                <a:sym typeface="Canva Sans"/>
              </a:rPr>
              <a:t>The column chart represents the Top-rated Gurus.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6697" y="6420937"/>
            <a:ext cx="8533304" cy="122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869" lvl="1" indent="-385435" algn="l">
              <a:lnSpc>
                <a:spcPts val="4998"/>
              </a:lnSpc>
              <a:buFont typeface="Arial"/>
              <a:buChar char="•"/>
            </a:pPr>
            <a:r>
              <a:rPr lang="en-US" sz="3570">
                <a:latin typeface="Canva Sans"/>
                <a:ea typeface="Canva Sans"/>
                <a:cs typeface="Canva Sans"/>
                <a:sym typeface="Canva Sans"/>
              </a:rPr>
              <a:t>The average rating of the Top 10 Gurus is 5.5.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72A9CDD-5CC3-4F3C-A027-4C9F95ED58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806200"/>
              </p:ext>
            </p:extLst>
          </p:nvPr>
        </p:nvGraphicFramePr>
        <p:xfrm>
          <a:off x="609600" y="2652494"/>
          <a:ext cx="8686799" cy="5081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823CE4-3246-AEBC-8C6B-6604A53C2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69"/>
            <a:ext cx="18288000" cy="102697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27412" y="1602072"/>
            <a:ext cx="7558976" cy="7065798"/>
            <a:chOff x="0" y="0"/>
            <a:chExt cx="1990842" cy="1860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0841" cy="1860951"/>
            </a:xfrm>
            <a:custGeom>
              <a:avLst/>
              <a:gdLst/>
              <a:ahLst/>
              <a:cxnLst/>
              <a:rect l="l" t="t" r="r" b="b"/>
              <a:pathLst>
                <a:path w="1990841" h="1860951">
                  <a:moveTo>
                    <a:pt x="52234" y="0"/>
                  </a:moveTo>
                  <a:lnTo>
                    <a:pt x="1938607" y="0"/>
                  </a:lnTo>
                  <a:cubicBezTo>
                    <a:pt x="1967455" y="0"/>
                    <a:pt x="1990841" y="23386"/>
                    <a:pt x="1990841" y="52234"/>
                  </a:cubicBezTo>
                  <a:lnTo>
                    <a:pt x="1990841" y="1808717"/>
                  </a:lnTo>
                  <a:cubicBezTo>
                    <a:pt x="1990841" y="1837565"/>
                    <a:pt x="1967455" y="1860951"/>
                    <a:pt x="1938607" y="1860951"/>
                  </a:cubicBezTo>
                  <a:lnTo>
                    <a:pt x="52234" y="1860951"/>
                  </a:lnTo>
                  <a:cubicBezTo>
                    <a:pt x="38381" y="1860951"/>
                    <a:pt x="25095" y="1855448"/>
                    <a:pt x="15299" y="1845652"/>
                  </a:cubicBezTo>
                  <a:cubicBezTo>
                    <a:pt x="5503" y="1835856"/>
                    <a:pt x="0" y="1822570"/>
                    <a:pt x="0" y="1808717"/>
                  </a:cubicBezTo>
                  <a:lnTo>
                    <a:pt x="0" y="52234"/>
                  </a:lnTo>
                  <a:cubicBezTo>
                    <a:pt x="0" y="38381"/>
                    <a:pt x="5503" y="25095"/>
                    <a:pt x="15299" y="15299"/>
                  </a:cubicBezTo>
                  <a:cubicBezTo>
                    <a:pt x="25095" y="5503"/>
                    <a:pt x="38381" y="0"/>
                    <a:pt x="52234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90842" cy="1908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02232" y="1875938"/>
            <a:ext cx="7057068" cy="6540774"/>
            <a:chOff x="0" y="0"/>
            <a:chExt cx="1093324" cy="10133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3324" cy="1013337"/>
            </a:xfrm>
            <a:custGeom>
              <a:avLst/>
              <a:gdLst/>
              <a:ahLst/>
              <a:cxnLst/>
              <a:rect l="l" t="t" r="r" b="b"/>
              <a:pathLst>
                <a:path w="1093324" h="1013337">
                  <a:moveTo>
                    <a:pt x="25232" y="0"/>
                  </a:moveTo>
                  <a:lnTo>
                    <a:pt x="1068092" y="0"/>
                  </a:lnTo>
                  <a:cubicBezTo>
                    <a:pt x="1082028" y="0"/>
                    <a:pt x="1093324" y="11297"/>
                    <a:pt x="1093324" y="25232"/>
                  </a:cubicBezTo>
                  <a:lnTo>
                    <a:pt x="1093324" y="988105"/>
                  </a:lnTo>
                  <a:cubicBezTo>
                    <a:pt x="1093324" y="1002040"/>
                    <a:pt x="1082028" y="1013337"/>
                    <a:pt x="1068092" y="1013337"/>
                  </a:cubicBezTo>
                  <a:lnTo>
                    <a:pt x="25232" y="1013337"/>
                  </a:lnTo>
                  <a:cubicBezTo>
                    <a:pt x="11297" y="1013337"/>
                    <a:pt x="0" y="1002040"/>
                    <a:pt x="0" y="988105"/>
                  </a:cubicBezTo>
                  <a:lnTo>
                    <a:pt x="0" y="25232"/>
                  </a:lnTo>
                  <a:cubicBezTo>
                    <a:pt x="0" y="11297"/>
                    <a:pt x="11297" y="0"/>
                    <a:pt x="25232" y="0"/>
                  </a:cubicBezTo>
                  <a:close/>
                </a:path>
              </a:pathLst>
            </a:custGeom>
            <a:blipFill>
              <a:blip r:embed="rId2"/>
              <a:stretch>
                <a:fillRect l="-19513" r="-1951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982167" y="173986"/>
            <a:ext cx="6323667" cy="70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4749" b="1">
                <a:latin typeface="Telegraf Bold"/>
                <a:ea typeface="Telegraf Bold"/>
                <a:cs typeface="Telegraf Bold"/>
                <a:sym typeface="Telegraf Bold"/>
              </a:rPr>
              <a:t>Strategic Initiatives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600" y="1602072"/>
            <a:ext cx="8689823" cy="822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000" b="1" dirty="0"/>
              <a:t>1. Enhance Technology &amp; User Experience</a:t>
            </a:r>
          </a:p>
          <a:p>
            <a:r>
              <a:rPr lang="en-US" sz="3000" dirty="0"/>
              <a:t>Improve app/dashboard performance to increase user engagement </a:t>
            </a:r>
          </a:p>
          <a:p>
            <a:r>
              <a:rPr lang="en-US" sz="3000" dirty="0"/>
              <a:t>Reduce cancelled and failed consultations to boost profitability </a:t>
            </a:r>
          </a:p>
          <a:p>
            <a:br>
              <a:rPr lang="en-US" sz="3000" dirty="0"/>
            </a:br>
            <a:endParaRPr lang="en-US" sz="3000" dirty="0"/>
          </a:p>
          <a:p>
            <a:r>
              <a:rPr lang="en-US" sz="3000" b="1" dirty="0"/>
              <a:t> 2. Optimize Operations &amp; Cost Efficiency</a:t>
            </a:r>
          </a:p>
          <a:p>
            <a:r>
              <a:rPr lang="en-US" sz="3000" dirty="0"/>
              <a:t>Focus on call consultations to drive higher revenue </a:t>
            </a:r>
          </a:p>
          <a:p>
            <a:r>
              <a:rPr lang="en-US" sz="3000" dirty="0"/>
              <a:t>Use chatbots/virtual assistants for basic queries to reduce consultant workload and operational costs </a:t>
            </a:r>
          </a:p>
          <a:p>
            <a:br>
              <a:rPr lang="en-US" sz="3000" dirty="0"/>
            </a:br>
            <a:endParaRPr lang="en-US" sz="3000" dirty="0"/>
          </a:p>
          <a:p>
            <a:r>
              <a:rPr lang="en-US" sz="3000" b="1" dirty="0"/>
              <a:t> 3. Improve Service Quality &amp; Consistency</a:t>
            </a:r>
          </a:p>
          <a:p>
            <a:r>
              <a:rPr lang="en-US" sz="3000" dirty="0"/>
              <a:t>Allow users to choose consultants and collect feedback </a:t>
            </a:r>
          </a:p>
          <a:p>
            <a:r>
              <a:rPr lang="en-US" sz="3000" dirty="0"/>
              <a:t>Share top-rated session recordings and conduct regular training to maintain quality standards </a:t>
            </a:r>
          </a:p>
          <a:p>
            <a:pPr marL="447467" lvl="1" indent="-223733" algn="l">
              <a:lnSpc>
                <a:spcPts val="2901"/>
              </a:lnSpc>
              <a:buFont typeface="Arial"/>
              <a:buChar char="•"/>
            </a:pPr>
            <a:endParaRPr lang="en-US" sz="3000" b="1" dirty="0"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1BF888-4378-1C48-50C4-565EE9705284}"/>
              </a:ext>
            </a:extLst>
          </p:cNvPr>
          <p:cNvSpPr txBox="1"/>
          <p:nvPr/>
        </p:nvSpPr>
        <p:spPr>
          <a:xfrm>
            <a:off x="5257800" y="114300"/>
            <a:ext cx="929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RECOMMENDATIONS</a:t>
            </a:r>
            <a:endParaRPr lang="en-IN" sz="8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E5C10-602F-9A6D-4B4A-636859B67778}"/>
              </a:ext>
            </a:extLst>
          </p:cNvPr>
          <p:cNvSpPr txBox="1"/>
          <p:nvPr/>
        </p:nvSpPr>
        <p:spPr>
          <a:xfrm>
            <a:off x="457200" y="2247900"/>
            <a:ext cx="15697200" cy="678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Upgrade Technology:</a:t>
            </a:r>
            <a:r>
              <a:rPr lang="en-US" sz="3000" dirty="0"/>
              <a:t> Improve app and dashboard performance to increase user engagement and reduce failed or cancelled consultations. </a:t>
            </a:r>
          </a:p>
          <a:p>
            <a:endParaRPr lang="en-US" sz="3000" dirty="0"/>
          </a:p>
          <a:p>
            <a:r>
              <a:rPr lang="en-US" sz="3000" b="1" dirty="0"/>
              <a:t>Implement Pre-booking and CRM Systems:</a:t>
            </a:r>
            <a:r>
              <a:rPr lang="en-US" sz="3000" dirty="0"/>
              <a:t> Enhance efficiency and reduce repetitive processes. </a:t>
            </a:r>
          </a:p>
          <a:p>
            <a:endParaRPr lang="en-US" sz="3000" dirty="0"/>
          </a:p>
          <a:p>
            <a:r>
              <a:rPr lang="en-US" sz="3000" b="1" dirty="0"/>
              <a:t>Use Chatbots and Virtual Assistants:</a:t>
            </a:r>
            <a:r>
              <a:rPr lang="en-US" sz="3000" dirty="0"/>
              <a:t> Handle basic queries to lower operational costs and free consultants for peak hours. </a:t>
            </a:r>
          </a:p>
          <a:p>
            <a:r>
              <a:rPr lang="en-US" sz="3000" b="1" dirty="0"/>
              <a:t>Focus on Call Consultations:</a:t>
            </a:r>
            <a:r>
              <a:rPr lang="en-US" sz="3000" dirty="0"/>
              <a:t> Drive higher revenue and improve customer interaction. </a:t>
            </a:r>
          </a:p>
          <a:p>
            <a:endParaRPr lang="en-US" sz="3000" dirty="0"/>
          </a:p>
          <a:p>
            <a:r>
              <a:rPr lang="en-US" sz="3000" b="1" dirty="0"/>
              <a:t>Enable Consultant Selection and Feedback:</a:t>
            </a:r>
            <a:r>
              <a:rPr lang="en-US" sz="3000" dirty="0"/>
              <a:t> Allow customers to choose consultants and provide feedback to build trust. </a:t>
            </a:r>
          </a:p>
          <a:p>
            <a:endParaRPr lang="en-US" sz="3000" dirty="0"/>
          </a:p>
          <a:p>
            <a:r>
              <a:rPr lang="en-US" sz="3000" b="1" dirty="0"/>
              <a:t>Ensure Training and Quality Consistency:</a:t>
            </a:r>
            <a:r>
              <a:rPr lang="en-US" sz="3000" dirty="0"/>
              <a:t> Share top-rated session recordings and conduct regular training to maintain service standards.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C94E4AD-8341-0B71-B7E2-6AA3E5DE8947}"/>
              </a:ext>
            </a:extLst>
          </p:cNvPr>
          <p:cNvSpPr txBox="1"/>
          <p:nvPr/>
        </p:nvSpPr>
        <p:spPr>
          <a:xfrm>
            <a:off x="533400" y="1790700"/>
            <a:ext cx="16916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1.Technological improvements and operational efficiency are essential for enhancing profitability and customer satisfaction. </a:t>
            </a:r>
          </a:p>
          <a:p>
            <a:endParaRPr lang="en-US" sz="3000" dirty="0"/>
          </a:p>
          <a:p>
            <a:r>
              <a:rPr lang="en-US" sz="3000" dirty="0"/>
              <a:t>2. Minimizing manual and repetitive processes can significantly improve overall performance. </a:t>
            </a:r>
          </a:p>
          <a:p>
            <a:endParaRPr lang="en-US" sz="3000" dirty="0"/>
          </a:p>
          <a:p>
            <a:r>
              <a:rPr lang="en-US" sz="3000" dirty="0"/>
              <a:t>3. Effective utilization of resources, including balancing automation and consultants, directly impacts cost efficiency and service quality. </a:t>
            </a: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0D13190-F74F-71D1-8B67-3D5A72A3D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5448300"/>
            <a:ext cx="169926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4.Enhancing the overall user experience can increase customer retention and encourage more frequent app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5.Integrating automation with human expertise can create a scalable and efficient service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6.Data-driven decision-making (based on user behavior and feedback) is crucial for continuous improvement and long-term growth.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22EEE-A2B6-A5D5-E30C-9ADA25C41B6E}"/>
              </a:ext>
            </a:extLst>
          </p:cNvPr>
          <p:cNvSpPr txBox="1"/>
          <p:nvPr/>
        </p:nvSpPr>
        <p:spPr>
          <a:xfrm>
            <a:off x="6324600" y="65710"/>
            <a:ext cx="8077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CONCLUSIONS</a:t>
            </a:r>
            <a:endParaRPr lang="en-IN" sz="80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75A1AB7-57A2-B192-A4E5-898663666509}"/>
              </a:ext>
            </a:extLst>
          </p:cNvPr>
          <p:cNvSpPr/>
          <p:nvPr/>
        </p:nvSpPr>
        <p:spPr>
          <a:xfrm>
            <a:off x="1905000" y="4152900"/>
            <a:ext cx="14478000" cy="32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50"/>
              </a:lnSpc>
              <a:buNone/>
            </a:pPr>
            <a:r>
              <a:rPr lang="en-US" sz="15000" dirty="0">
                <a:solidFill>
                  <a:srgbClr val="050505"/>
                </a:solidFill>
                <a:latin typeface="Arial" panose="020B0604020202020204" pitchFamily="34" charset="0"/>
                <a:ea typeface="Gilda Display" pitchFamily="34" charset="-122"/>
                <a:cs typeface="Arial" panose="020B0604020202020204" pitchFamily="34" charset="0"/>
              </a:rPr>
              <a:t>THANK YOU</a:t>
            </a:r>
            <a:endParaRPr lang="en-US" sz="1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6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944</Words>
  <Application>Microsoft Office PowerPoint</Application>
  <PresentationFormat>Custom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Telegraf Bold</vt:lpstr>
      <vt:lpstr>Calibri</vt:lpstr>
      <vt:lpstr>Telegraf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Astro-sage Sales Analysis</dc:title>
  <dc:creator>Dhruv Agarwal</dc:creator>
  <cp:lastModifiedBy>Dhruv Agarwal</cp:lastModifiedBy>
  <cp:revision>6</cp:revision>
  <dcterms:created xsi:type="dcterms:W3CDTF">2006-08-16T00:00:00Z</dcterms:created>
  <dcterms:modified xsi:type="dcterms:W3CDTF">2026-04-24T11:52:41Z</dcterms:modified>
  <dc:identifier>DAGcwR-Oq30</dc:identifier>
</cp:coreProperties>
</file>